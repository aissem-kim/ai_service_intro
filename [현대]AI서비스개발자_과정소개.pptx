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46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12700">
            <a:solidFill>
              <a:srgbClr val="1F34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12700">
            <a:solidFill>
              <a:srgbClr val="1F34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12700">
            <a:solidFill>
              <a:srgbClr val="1F34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931920"/>
            <a:ext cx="12188952" cy="0"/>
          </a:xfrm>
          <a:prstGeom prst="line">
            <a:avLst/>
          </a:prstGeom>
          <a:noFill/>
          <a:ln w="12700">
            <a:solidFill>
              <a:srgbClr val="1F34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12700">
            <a:solidFill>
              <a:srgbClr val="1F34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943600"/>
            <a:ext cx="12188952" cy="0"/>
          </a:xfrm>
          <a:prstGeom prst="line">
            <a:avLst/>
          </a:prstGeom>
          <a:noFill/>
          <a:ln w="12700">
            <a:solidFill>
              <a:srgbClr val="1F34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285" y="276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AI Insight Campus</a:t>
            </a:r>
            <a:endParaRPr lang="en-US" sz="2400" b="1" dirty="0"/>
          </a:p>
        </p:txBody>
      </p:sp>
      <p:sp>
        <p:nvSpPr>
          <p:cNvPr id="9" name="Text 7"/>
          <p:cNvSpPr/>
          <p:nvPr/>
        </p:nvSpPr>
        <p:spPr>
          <a:xfrm>
            <a:off x="2614749" y="2021566"/>
            <a:ext cx="714068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서비스 개발자 </a:t>
            </a:r>
            <a:r>
              <a:rPr lang="en-US" sz="5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과정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099682" y="4078553"/>
            <a:ext cx="362712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smtClean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2026.08.24  -  2027.04.05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893313" y="3204521"/>
            <a:ext cx="64023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생성형 </a:t>
            </a:r>
            <a:r>
              <a:rPr lang="en-US" altLang="ko-KR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AI</a:t>
            </a:r>
            <a:r>
              <a:rPr lang="ko-KR" altLang="en-US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를 배우는 사람에서</a:t>
            </a:r>
            <a:r>
              <a:rPr lang="en-US" altLang="ko-KR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, AI </a:t>
            </a:r>
            <a:r>
              <a:rPr lang="ko-KR" altLang="en-US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서비스를 만드는 개발자로</a:t>
            </a:r>
            <a:endParaRPr lang="en-US" sz="2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dirty="0" smtClean="0"/>
              <a:t>목 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20240" y="16002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 err="1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목표와</a:t>
            </a:r>
            <a:r>
              <a:rPr lang="en-US" sz="18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10332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5000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20240" y="2395728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WMS(창고관리시스템)인가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035808"/>
            <a:ext cx="10332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4553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20240" y="3191256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</a:t>
            </a:r>
            <a:r>
              <a:rPr lang="en-US" sz="1800" dirty="0" err="1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831336"/>
            <a:ext cx="10332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4106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20240" y="3986784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Term </a:t>
            </a:r>
            <a:r>
              <a:rPr lang="en-US" sz="18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626864"/>
            <a:ext cx="10332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3659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20240" y="478231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  특징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422392"/>
            <a:ext cx="10332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532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20240" y="55778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방식과 평가 기준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6217920"/>
            <a:ext cx="10332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AI Insight Campus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</a:t>
            </a:r>
            <a:r>
              <a:rPr lang="ko-KR" altLang="en-US" sz="3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와 배경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F345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제조업 현장의 실제 업무(창고·재고관리)를 이해하고, </a:t>
            </a:r>
            <a:r>
              <a:rPr lang="en-US" sz="17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기능을 결합한 서비스를 </a:t>
            </a:r>
            <a:r>
              <a:rPr lang="en-US" sz="17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r>
              <a:rPr lang="en-US" sz="17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부터 </a:t>
            </a:r>
            <a:r>
              <a:rPr lang="en-US" sz="17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r>
              <a:rPr lang="en-US" sz="17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까지 스스로 </a:t>
            </a:r>
            <a:r>
              <a:rPr lang="en-US" sz="17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r>
              <a:rPr lang="en-US" sz="17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수 있는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개발자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양성합니다.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538728" cy="2834640"/>
          </a:xfrm>
          <a:prstGeom prst="roundRect">
            <a:avLst>
              <a:gd name="adj" fmla="val 2581"/>
            </a:avLst>
          </a:prstGeom>
          <a:solidFill>
            <a:srgbClr val="223A61"/>
          </a:solidFill>
          <a:ln/>
        </p:spPr>
      </p:sp>
      <p:sp>
        <p:nvSpPr>
          <p:cNvPr id="6" name="Shape 4"/>
          <p:cNvSpPr/>
          <p:nvPr/>
        </p:nvSpPr>
        <p:spPr>
          <a:xfrm>
            <a:off x="1952244" y="3383280"/>
            <a:ext cx="914400" cy="91440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7" name="Image 0" descr="/home/claude/wms_ppt/icon_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360273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4805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 이해력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98348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입고·보관·피킹·출고·재고실사 프로세스와 데이터 구조 이해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02252" y="3108960"/>
            <a:ext cx="3538728" cy="2834640"/>
          </a:xfrm>
          <a:prstGeom prst="roundRect">
            <a:avLst>
              <a:gd name="adj" fmla="val 2581"/>
            </a:avLst>
          </a:prstGeom>
          <a:solidFill>
            <a:srgbClr val="223A61"/>
          </a:solidFill>
          <a:ln/>
        </p:spPr>
      </p:sp>
      <p:sp>
        <p:nvSpPr>
          <p:cNvPr id="11" name="Shape 8"/>
          <p:cNvSpPr/>
          <p:nvPr/>
        </p:nvSpPr>
        <p:spPr>
          <a:xfrm>
            <a:off x="5614416" y="3383280"/>
            <a:ext cx="914400" cy="91440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12" name="Image 1" descr="/home/claude/wms_ppt/icon_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6027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9412" y="44805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통합 개발력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30852" y="498348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LLM·RAG·에이전트를 실제 기능에 결합하는 백엔드/프론트 구현 역량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64424" y="3108960"/>
            <a:ext cx="3538728" cy="2834640"/>
          </a:xfrm>
          <a:prstGeom prst="roundRect">
            <a:avLst>
              <a:gd name="adj" fmla="val 2581"/>
            </a:avLst>
          </a:prstGeom>
          <a:solidFill>
            <a:srgbClr val="223A61"/>
          </a:solidFill>
          <a:ln/>
        </p:spPr>
      </p:sp>
      <p:sp>
        <p:nvSpPr>
          <p:cNvPr id="16" name="Shape 12"/>
          <p:cNvSpPr/>
          <p:nvPr/>
        </p:nvSpPr>
        <p:spPr>
          <a:xfrm>
            <a:off x="9276588" y="3383280"/>
            <a:ext cx="914400" cy="91440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17" name="Image 2" descr="/home/claude/wms_ppt/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6044" y="360273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1584" y="44805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배포·운영력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93024" y="4983480"/>
            <a:ext cx="3081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서비스로 배포하고 운영 관점까지 다루는 실무 역량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AI Insight Campus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WMS(창고관리시스템)인가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304535" y="1186422"/>
            <a:ext cx="77353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추상적인 'AI 활용'이 아니라, 하나의 구체적 도메인을 끝까지 파고듭니다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777240" cy="777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6" name="Image 0" descr="/home/claude/wms_ppt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2243938"/>
            <a:ext cx="404165" cy="4041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7" name="Text 4"/>
          <p:cNvSpPr/>
          <p:nvPr/>
        </p:nvSpPr>
        <p:spPr>
          <a:xfrm>
            <a:off x="1920240" y="2103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명확한 프로세스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입고-보관-피킹-출고-재고실사, 5단계로 누구나 이해할 수 있는 흐름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57400"/>
            <a:ext cx="777240" cy="777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1" name="Image 1" descr="/home/claude/wms_ppt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2243938"/>
            <a:ext cx="404165" cy="4041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2" name="Text 8"/>
          <p:cNvSpPr/>
          <p:nvPr/>
        </p:nvSpPr>
        <p:spPr>
          <a:xfrm>
            <a:off x="7452360" y="2103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 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RAG·에이전트·멀티모달·백엔드·프론트·배포·MCP를 하나의 도메인 모듈에 매핑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480560"/>
            <a:ext cx="777240" cy="777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6" name="Image 2" descr="/home/claude/wms_ppt/icon_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658" y="4665269"/>
            <a:ext cx="404165" cy="404165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7" name="Text 12"/>
          <p:cNvSpPr/>
          <p:nvPr/>
        </p:nvSpPr>
        <p:spPr>
          <a:xfrm>
            <a:off x="1920240" y="4526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적합도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89686" y="5349240"/>
            <a:ext cx="49624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현대엘리베이터·현대무벡스 등 참여기업의 부품/설비 </a:t>
            </a:r>
            <a:r>
              <a:rPr 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관리 </a:t>
            </a:r>
            <a:r>
              <a:rPr lang="ko-KR" alt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반영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480560"/>
            <a:ext cx="777240" cy="777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21" name="Image 3" descr="/home/claude/wms_ppt/icon_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78" y="4667098"/>
            <a:ext cx="404165" cy="404165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2" name="Text 16"/>
          <p:cNvSpPr/>
          <p:nvPr/>
        </p:nvSpPr>
        <p:spPr>
          <a:xfrm>
            <a:off x="7452360" y="4526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누적형 학습 구조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53492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ko-KR" alt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</a:t>
            </a:r>
            <a:r>
              <a:rPr 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산출물을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</a:t>
            </a:r>
            <a:r>
              <a:rPr 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</a:t>
            </a:r>
            <a:r>
              <a:rPr lang="ko-KR" alt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</a:t>
            </a:r>
            <a:r>
              <a:rPr lang="en-US" altLang="ko-KR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</a:t>
            </a:r>
            <a:r>
              <a:rPr lang="ko-KR" altLang="en-US" sz="12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학습 플랜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AI Insight Campus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1F3457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1691640"/>
            <a:ext cx="822960" cy="82296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6" name="Image 0" descr="/home/claude/wms_ppt/ico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990" y="18891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기초·서비스 설계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API 활용 (56H)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1788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프롬프트 엔지니어링 (52H)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 서비스 로직 설계 (52H)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141732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1F3457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1691640"/>
            <a:ext cx="822960" cy="82296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13" name="Image 1" descr="/home/claude/wms_ppt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910" y="188915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심화 &amp; 데이터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11880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RAG 기반 AI 서비스 (76H)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11880" y="41788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멀티모달 AI 활용 (76H)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11880" y="483717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데이터베이스 이론&amp;SQL (40H)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1F3457"/>
          </a:solidFill>
          <a:ln/>
        </p:spPr>
      </p:sp>
      <p:sp>
        <p:nvSpPr>
          <p:cNvPr id="19" name="Shape 15"/>
          <p:cNvSpPr/>
          <p:nvPr/>
        </p:nvSpPr>
        <p:spPr>
          <a:xfrm>
            <a:off x="7132320" y="1691640"/>
            <a:ext cx="822960" cy="82296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20" name="Image 2" descr="/home/claude/wms_ppt/icon_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9830" y="188915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풀스택 개발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40080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백엔드 개발 (68H)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00800" y="41788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웹 프론트엔드 (80H)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AI UX 설계 (60H)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006840" y="141732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1F3457"/>
          </a:solidFill>
          <a:ln/>
        </p:spPr>
      </p:sp>
      <p:sp>
        <p:nvSpPr>
          <p:cNvPr id="26" name="Shape 21"/>
          <p:cNvSpPr/>
          <p:nvPr/>
        </p:nvSpPr>
        <p:spPr>
          <a:xfrm>
            <a:off x="9921240" y="1691640"/>
            <a:ext cx="822960" cy="82296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27" name="Image 3" descr="/home/claude/wms_ppt/icon_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8750" y="1889150"/>
            <a:ext cx="427939" cy="42793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통합·배포·확장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18972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AI 웹앱 구현 (64H)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189720" y="41788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r>
              <a:rPr lang="en-US" sz="108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운영 (48H)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918972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MCP 기반 AI 통합 (48H)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AI Insight Campus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4단계 Term 프로젝트 — 우리가 만들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F3457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828800"/>
            <a:ext cx="822960" cy="82296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6" name="Image 0" descr="/home/claude/wms_ppt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130" y="2026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지식탐색·요약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570485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SOP·매뉴얼 기반 RAG 챗봇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64408" y="3429000"/>
            <a:ext cx="164592" cy="320040"/>
          </a:xfrm>
          <a:prstGeom prst="rightArrow">
            <a:avLst/>
          </a:prstGeom>
          <a:solidFill>
            <a:srgbClr val="E8912D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F3457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0540" y="1828800"/>
            <a:ext cx="822960" cy="82296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14" name="Image 1" descr="/home/claude/wms_ppt/icon_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050" y="202631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616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분류·자동화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29633" y="3586137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이상 요청 처리 웹앱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53328" y="3429000"/>
            <a:ext cx="164592" cy="320040"/>
          </a:xfrm>
          <a:prstGeom prst="rightArrow">
            <a:avLst/>
          </a:prstGeom>
          <a:solidFill>
            <a:srgbClr val="E8912D"/>
          </a:solidFill>
          <a:ln/>
        </p:spPr>
      </p:sp>
      <p:sp>
        <p:nvSpPr>
          <p:cNvPr id="20" name="Shape 16"/>
          <p:cNvSpPr/>
          <p:nvPr/>
        </p:nvSpPr>
        <p:spPr>
          <a:xfrm>
            <a:off x="621792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F3457"/>
          </a:solidFill>
          <a:ln/>
        </p:spPr>
      </p:sp>
      <p:sp>
        <p:nvSpPr>
          <p:cNvPr id="21" name="Shape 17"/>
          <p:cNvSpPr/>
          <p:nvPr/>
        </p:nvSpPr>
        <p:spPr>
          <a:xfrm>
            <a:off x="7109460" y="1828800"/>
            <a:ext cx="822960" cy="82296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22" name="Image 2" descr="/home/claude/wms_ppt/icon_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970" y="2026310"/>
            <a:ext cx="427939" cy="42793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5508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역할기반 AI 에이전트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400800" y="3794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피커</a:t>
            </a:r>
            <a:r>
              <a:rPr lang="en-US" sz="1400" dirty="0" smtClean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검수자· 관리자 지원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 smtClean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 smtClean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842248" y="3429000"/>
            <a:ext cx="164592" cy="320040"/>
          </a:xfrm>
          <a:prstGeom prst="rightArrow">
            <a:avLst/>
          </a:prstGeom>
          <a:solidFill>
            <a:srgbClr val="E8912D"/>
          </a:solidFill>
          <a:ln/>
        </p:spPr>
      </p:sp>
      <p:sp>
        <p:nvSpPr>
          <p:cNvPr id="28" name="Shape 23"/>
          <p:cNvSpPr/>
          <p:nvPr/>
        </p:nvSpPr>
        <p:spPr>
          <a:xfrm>
            <a:off x="900684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E8912D"/>
          </a:solidFill>
          <a:ln/>
        </p:spPr>
      </p:sp>
      <p:sp>
        <p:nvSpPr>
          <p:cNvPr id="29" name="Shape 24"/>
          <p:cNvSpPr/>
          <p:nvPr/>
        </p:nvSpPr>
        <p:spPr>
          <a:xfrm>
            <a:off x="9898380" y="18288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mage 3" descr="/home/claude/wms_ppt/icon_me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890" y="2026310"/>
            <a:ext cx="427939" cy="427939"/>
          </a:xfrm>
          <a:prstGeom prst="rect">
            <a:avLst/>
          </a:prstGeom>
          <a:solidFill>
            <a:schemeClr val="accent4"/>
          </a:solidFill>
        </p:spPr>
      </p:pic>
      <p:sp>
        <p:nvSpPr>
          <p:cNvPr id="31" name="Text 25"/>
          <p:cNvSpPr/>
          <p:nvPr/>
        </p:nvSpPr>
        <p:spPr>
          <a:xfrm>
            <a:off x="914400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14400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WMS 통합 플랫폼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189720" y="3794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전체를 하나로 </a:t>
            </a:r>
            <a:r>
              <a:rPr lang="en-US" sz="1400" dirty="0" err="1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통합한</a:t>
            </a:r>
            <a:r>
              <a:rPr lang="en-US" sz="14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 err="1" smtClean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AI Insight Campus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방식과 평가 기준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방식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947672"/>
            <a:ext cx="91440" cy="91440"/>
          </a:xfrm>
          <a:prstGeom prst="ellipse">
            <a:avLst/>
          </a:prstGeom>
          <a:solidFill>
            <a:srgbClr val="E891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이론(왜) → 실습(어떻게) →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순으로 매 과목 진행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724912"/>
            <a:ext cx="91440" cy="91440"/>
          </a:xfrm>
          <a:prstGeom prst="ellipse">
            <a:avLst/>
          </a:prstGeom>
          <a:solidFill>
            <a:srgbClr val="E891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분담형 협업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502152"/>
            <a:ext cx="91440" cy="91440"/>
          </a:xfrm>
          <a:prstGeom prst="ellipse">
            <a:avLst/>
          </a:prstGeom>
          <a:solidFill>
            <a:srgbClr val="E891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83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Part 종료 시 산출물을 표준화해 다음 Part로 이어감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184601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 우선순위 (Final Project 기준)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F3457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9933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1순위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구조화·이해도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프로세스를 논리적으로 구조화했는가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86207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F3457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98094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2순위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953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적용의 타당성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어디에 왜 적용했는지 설명이 명확한가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3849624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F3457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96849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3순위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39410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동작 데모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43068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흐름이 부분적으로라도 실제 동작하는가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4837176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F3457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49560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4순위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49286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완성도·안정성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52943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지표 — 감점 위주로는 적용하지 않음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AI Insight Campus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E8912D"/>
          </a:solidFill>
          <a:ln/>
        </p:spPr>
      </p:sp>
      <p:pic>
        <p:nvPicPr>
          <p:cNvPr id="3" name="Image 0" descr="/home/claude/wms_ppt/icon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51790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8803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완벽한 시스템이 아니라, 구조를 이해하고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33832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2400" b="1" dirty="0" smtClean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현장에서 필요한 업무에 최적화된 </a:t>
            </a:r>
            <a:r>
              <a:rPr lang="en-US" sz="2400" b="1" dirty="0" err="1" smtClean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r>
              <a:rPr lang="en-US" sz="2400" b="1" dirty="0" err="1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를</a:t>
            </a: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smtClean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결합하는 능력을 </a:t>
            </a:r>
            <a:r>
              <a:rPr lang="ko-KR" altLang="en-US" sz="2400" b="1" dirty="0" smtClean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기르는</a:t>
            </a:r>
            <a:r>
              <a:rPr lang="en-US" sz="2400" b="1" dirty="0" smtClean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400" b="1" dirty="0" smtClean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과정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5954309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4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개발자 양성과정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512</Words>
  <Application>Microsoft Office PowerPoint</Application>
  <PresentationFormat>와이드스크린</PresentationFormat>
  <Paragraphs>109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서유미</dc:creator>
  <cp:lastModifiedBy>student</cp:lastModifiedBy>
  <cp:revision>9</cp:revision>
  <dcterms:created xsi:type="dcterms:W3CDTF">2026-08-20T07:41:06Z</dcterms:created>
  <dcterms:modified xsi:type="dcterms:W3CDTF">2026-08-20T08:08:17Z</dcterms:modified>
</cp:coreProperties>
</file>